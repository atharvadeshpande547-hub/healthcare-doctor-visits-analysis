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hyperlink" Target="https://github.com/atharvadeshpande547-hub/healthcare-doctor-visits-analysi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atharvadeshpande547-hub/healthcare-doctor-visits-analysis" TargetMode="External"/><Relationship Id="rId5" Type="http://schemas.openxmlformats.org/officeDocument/2006/relationships/hyperlink" Target="abc" TargetMode="Externa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tharvadeshpande547-hub/healthcare-doctor-visits-analysis" TargetMode="External"/><Relationship Id="rId4" Type="http://schemas.openxmlformats.org/officeDocument/2006/relationships/hyperlink" Target="abc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324" y="1973110"/>
            <a:ext cx="4998720" cy="743448"/>
          </a:xfrm>
        </p:spPr>
        <p:txBody>
          <a:bodyPr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IN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Analytics for Doctor </a:t>
            </a:r>
            <a:r>
              <a:rPr lang="en-IN" sz="32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Visits_TIRTC</a:t>
            </a:r>
            <a:endParaRPr lang="en-IN" sz="3200" dirty="0">
              <a:solidFill>
                <a:srgbClr val="020202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5BDCA82-0649-D1C0-A277-1E48F9A192DD}"/>
              </a:ext>
            </a:extLst>
          </p:cNvPr>
          <p:cNvSpPr txBox="1">
            <a:spLocks/>
          </p:cNvSpPr>
          <p:nvPr/>
        </p:nvSpPr>
        <p:spPr>
          <a:xfrm>
            <a:off x="5427501" y="3065669"/>
            <a:ext cx="4996543" cy="363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Exploratory Data Analysis &amp; Data Preprocessing</a:t>
            </a:r>
            <a:endParaRPr lang="en-US" sz="1800" b="0" dirty="0"/>
          </a:p>
          <a:p>
            <a:pPr algn="ctr"/>
            <a:endParaRPr lang="en-IN" sz="1800" b="0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4E9EF6-9EB4-231F-0E16-5E1F5CFB3F79}"/>
              </a:ext>
            </a:extLst>
          </p:cNvPr>
          <p:cNvCxnSpPr>
            <a:cxnSpLocks/>
          </p:cNvCxnSpPr>
          <p:nvPr/>
        </p:nvCxnSpPr>
        <p:spPr>
          <a:xfrm>
            <a:off x="6096000" y="3732941"/>
            <a:ext cx="364544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3">
            <a:extLst>
              <a:ext uri="{FF2B5EF4-FFF2-40B4-BE49-F238E27FC236}">
                <a16:creationId xmlns:a16="http://schemas.microsoft.com/office/drawing/2014/main" id="{2143E6AC-74B2-B66F-883B-54483AEE87D7}"/>
              </a:ext>
            </a:extLst>
          </p:cNvPr>
          <p:cNvSpPr/>
          <p:nvPr/>
        </p:nvSpPr>
        <p:spPr>
          <a:xfrm>
            <a:off x="5730963" y="3927166"/>
            <a:ext cx="4651834" cy="534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Done By : Atharva Abhay Deshpande </a:t>
            </a:r>
          </a:p>
          <a:p>
            <a:pPr algn="ctr"/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</a:rPr>
              <a:t>AICTE ID : </a:t>
            </a:r>
            <a:r>
              <a:rPr lang="en-IN" sz="1300" b="1" dirty="0">
                <a:solidFill>
                  <a:srgbClr val="383838"/>
                </a:solidFill>
                <a:latin typeface="DM Sans Bold" pitchFamily="34" charset="0"/>
              </a:rPr>
              <a:t>STU6a5e292a5d1bd1784555818</a:t>
            </a:r>
            <a:endParaRPr lang="en-US" sz="1300" b="1" dirty="0">
              <a:solidFill>
                <a:srgbClr val="383838"/>
              </a:solidFill>
              <a:latin typeface="DM Sans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3" grpId="0" build="p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93" y="1854841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EF5DF68-3D77-9981-46FB-6E992A5A3A9C}"/>
              </a:ext>
            </a:extLst>
          </p:cNvPr>
          <p:cNvSpPr/>
          <p:nvPr/>
        </p:nvSpPr>
        <p:spPr>
          <a:xfrm>
            <a:off x="892195" y="1506600"/>
            <a:ext cx="5703745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150"/>
              </a:spcAft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Doctor visits vary a lot from one patient to another. In this dataset, 79.8% of patients made no visit, while a small group made several. Understanding which patient characteristics are linked to more visits is non-trivial without structured analysis. </a:t>
            </a:r>
          </a:p>
          <a:p>
            <a:pPr>
              <a:spcAft>
                <a:spcPts val="1150"/>
              </a:spcAft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Key variables under investigation:</a:t>
            </a:r>
            <a:endParaRPr lang="en-US" sz="1300" dirty="0"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BE9508E-D416-3E65-56ED-E0D836B299D2}"/>
              </a:ext>
            </a:extLst>
          </p:cNvPr>
          <p:cNvSpPr/>
          <p:nvPr/>
        </p:nvSpPr>
        <p:spPr>
          <a:xfrm>
            <a:off x="1028553" y="2674224"/>
            <a:ext cx="5703745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Gender and age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Income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Illness, reduced and health values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Insurance type (private, </a:t>
            </a:r>
            <a:r>
              <a:rPr lang="en-IN" sz="13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freepoor</a:t>
            </a: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IN" sz="13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freerepat</a:t>
            </a: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) and chronic conditions (</a:t>
            </a:r>
            <a:r>
              <a:rPr lang="en-IN" sz="13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nchronic</a:t>
            </a: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IN" sz="13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lchronic</a:t>
            </a:r>
            <a:r>
              <a:rPr lang="en-IN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300" dirty="0"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08C9FF5A-A216-03D9-AE92-A5428A3D3147}"/>
              </a:ext>
            </a:extLst>
          </p:cNvPr>
          <p:cNvSpPr/>
          <p:nvPr/>
        </p:nvSpPr>
        <p:spPr>
          <a:xfrm>
            <a:off x="892194" y="4135297"/>
            <a:ext cx="4834837" cy="1463397"/>
          </a:xfrm>
          <a:prstGeom prst="roundRect">
            <a:avLst>
              <a:gd name="adj" fmla="val 21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5338C02-A0BD-0A70-4BBC-89C61A9AF1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7490" y="4381360"/>
            <a:ext cx="206667" cy="1652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0D6C170D-5E42-B10C-C4BE-B8CDA2DE79F9}"/>
              </a:ext>
            </a:extLst>
          </p:cNvPr>
          <p:cNvSpPr/>
          <p:nvPr/>
        </p:nvSpPr>
        <p:spPr>
          <a:xfrm>
            <a:off x="1429452" y="4325401"/>
            <a:ext cx="3966468" cy="7938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DM Sans" pitchFamily="34" charset="0"/>
              </a:rPr>
              <a:t>Doctor visits vary depending on factors such as gender, age, income, illness, insurance type and chronic conditions. This project aims to </a:t>
            </a:r>
            <a:r>
              <a:rPr lang="en-IN" sz="1200" dirty="0" err="1">
                <a:solidFill>
                  <a:srgbClr val="000000"/>
                </a:solidFill>
                <a:latin typeface="DM Sans" pitchFamily="34" charset="0"/>
              </a:rPr>
              <a:t>analyze</a:t>
            </a:r>
            <a:r>
              <a:rPr lang="en-IN" sz="1200" dirty="0">
                <a:solidFill>
                  <a:srgbClr val="000000"/>
                </a:solidFill>
                <a:latin typeface="DM Sans" pitchFamily="34" charset="0"/>
              </a:rPr>
              <a:t> the 5,190-record doctor visits dataset to understand these relationships and derive meaningful insights that can help understand doctor-visit patterns.</a:t>
            </a:r>
            <a:endParaRPr lang="en-US" sz="1200" dirty="0">
              <a:solidFill>
                <a:srgbClr val="000000"/>
              </a:solidFill>
              <a:latin typeface="DM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93" y="474397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33FF2837-E8AE-C21A-8262-2CA93FE01CB1}"/>
              </a:ext>
            </a:extLst>
          </p:cNvPr>
          <p:cNvSpPr/>
          <p:nvPr/>
        </p:nvSpPr>
        <p:spPr>
          <a:xfrm>
            <a:off x="236360" y="1400221"/>
            <a:ext cx="3205558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at a Glance</a:t>
            </a:r>
            <a:endParaRPr lang="en-US" sz="15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667E67A-2B8B-53F2-9952-B2E7A223ACD8}"/>
              </a:ext>
            </a:extLst>
          </p:cNvPr>
          <p:cNvSpPr/>
          <p:nvPr/>
        </p:nvSpPr>
        <p:spPr>
          <a:xfrm>
            <a:off x="236360" y="1786951"/>
            <a:ext cx="3205558" cy="73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50"/>
              </a:spcAft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Source: 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Healthcare Analytics for Doctor Visits dataset (CSV file)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spcAft>
                <a:spcPts val="950"/>
              </a:spcAft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Size: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5,190 rows x 12 columns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Type: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Structured tabular data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456FB20-9559-B92F-68CB-B507EC110D25}"/>
              </a:ext>
            </a:extLst>
          </p:cNvPr>
          <p:cNvSpPr/>
          <p:nvPr/>
        </p:nvSpPr>
        <p:spPr>
          <a:xfrm>
            <a:off x="236360" y="2838444"/>
            <a:ext cx="3205558" cy="15784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1BB655B-6F6F-5482-F013-3F959C806F79}"/>
              </a:ext>
            </a:extLst>
          </p:cNvPr>
          <p:cNvSpPr/>
          <p:nvPr/>
        </p:nvSpPr>
        <p:spPr>
          <a:xfrm>
            <a:off x="236360" y="3016749"/>
            <a:ext cx="3205558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12 Dataset Columns</a:t>
            </a:r>
            <a:endParaRPr lang="en-US" sz="15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B36D48-57F3-0C5F-DD55-19F3FCD5F336}"/>
              </a:ext>
            </a:extLst>
          </p:cNvPr>
          <p:cNvSpPr/>
          <p:nvPr/>
        </p:nvSpPr>
        <p:spPr>
          <a:xfrm>
            <a:off x="236360" y="3340395"/>
            <a:ext cx="3205558" cy="2973346"/>
          </a:xfrm>
          <a:prstGeom prst="rect">
            <a:avLst/>
          </a:prstGeom>
          <a:noFill/>
          <a:ln/>
        </p:spPr>
        <p:txBody>
          <a:bodyPr wrap="square" lIns="0" tIns="60988" rIns="0" bIns="0" rtlCol="0" anchor="t">
            <a:noAutofit/>
          </a:bodyPr>
          <a:lstStyle/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visits (whole number)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 (female / male)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 (numeric)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 (numeric)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illness (whole number)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(whole number)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(whole number)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(yes / no)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freepoor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(yes / no)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freerepat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(yes / no)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nchronic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(yes / no)</a:t>
            </a:r>
          </a:p>
          <a:p>
            <a:pPr marL="243840" indent="-24384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lchronic</a:t>
            </a:r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(yes / no)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ABF0F2-EE4E-5DB1-5E76-AE8711B39C43}"/>
              </a:ext>
            </a:extLst>
          </p:cNvPr>
          <p:cNvSpPr/>
          <p:nvPr/>
        </p:nvSpPr>
        <p:spPr>
          <a:xfrm>
            <a:off x="3608447" y="1403067"/>
            <a:ext cx="5423260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Workflow</a:t>
            </a:r>
            <a:endParaRPr lang="en-US" sz="1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8071D5C-6583-93E3-2019-897D6E8AA19D}"/>
              </a:ext>
            </a:extLst>
          </p:cNvPr>
          <p:cNvSpPr/>
          <p:nvPr/>
        </p:nvSpPr>
        <p:spPr>
          <a:xfrm>
            <a:off x="3608447" y="1906108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014C07-9D19-B745-0D59-05BAC2A29A5B}"/>
              </a:ext>
            </a:extLst>
          </p:cNvPr>
          <p:cNvSpPr/>
          <p:nvPr/>
        </p:nvSpPr>
        <p:spPr>
          <a:xfrm>
            <a:off x="3650695" y="1923823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02D667-BF46-5487-9DA0-1CEC147E7C63}"/>
              </a:ext>
            </a:extLst>
          </p:cNvPr>
          <p:cNvSpPr/>
          <p:nvPr/>
        </p:nvSpPr>
        <p:spPr>
          <a:xfrm>
            <a:off x="4005890" y="1949513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&amp; Understand</a:t>
            </a:r>
            <a:endParaRPr lang="en-US" sz="1550" dirty="0">
              <a:solidFill>
                <a:srgbClr val="383838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EBA5155-EE92-B386-0423-BF2029F1073C}"/>
              </a:ext>
            </a:extLst>
          </p:cNvPr>
          <p:cNvSpPr/>
          <p:nvPr/>
        </p:nvSpPr>
        <p:spPr>
          <a:xfrm>
            <a:off x="4005890" y="2273159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and load the dataset; inspect structure, data types, and statistical summary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80A4B38-44E6-58FE-0D45-CCDFB6FC5ABA}"/>
              </a:ext>
            </a:extLst>
          </p:cNvPr>
          <p:cNvSpPr/>
          <p:nvPr/>
        </p:nvSpPr>
        <p:spPr>
          <a:xfrm>
            <a:off x="3608447" y="2700302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AF38F7-26BA-0071-7D6C-59F4DD16C744}"/>
              </a:ext>
            </a:extLst>
          </p:cNvPr>
          <p:cNvSpPr/>
          <p:nvPr/>
        </p:nvSpPr>
        <p:spPr>
          <a:xfrm>
            <a:off x="3650695" y="2718018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46FED6-440A-3107-2A1A-5B9BCD1A84F0}"/>
              </a:ext>
            </a:extLst>
          </p:cNvPr>
          <p:cNvSpPr/>
          <p:nvPr/>
        </p:nvSpPr>
        <p:spPr>
          <a:xfrm>
            <a:off x="4005890" y="2743707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Quality Checks</a:t>
            </a:r>
            <a:endParaRPr lang="en-US" sz="15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38AEEE-2472-4415-F010-CC45806D9239}"/>
              </a:ext>
            </a:extLst>
          </p:cNvPr>
          <p:cNvSpPr/>
          <p:nvPr/>
        </p:nvSpPr>
        <p:spPr>
          <a:xfrm>
            <a:off x="4005889" y="3075742"/>
            <a:ext cx="5837357" cy="11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for missing values (none found) and duplicate records (1,320 repeated rows,</a:t>
            </a:r>
          </a:p>
          <a:p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kept because there is no patient ID)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4624A88-0EC0-CBF9-68BF-86CF2D81EA14}"/>
              </a:ext>
            </a:extLst>
          </p:cNvPr>
          <p:cNvSpPr/>
          <p:nvPr/>
        </p:nvSpPr>
        <p:spPr>
          <a:xfrm>
            <a:off x="3608447" y="3494496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DF4AD09-8938-4087-60A8-910E6C888FC6}"/>
              </a:ext>
            </a:extLst>
          </p:cNvPr>
          <p:cNvSpPr/>
          <p:nvPr/>
        </p:nvSpPr>
        <p:spPr>
          <a:xfrm>
            <a:off x="3650695" y="3512212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C615B9F-6F76-8F5B-1E6A-5BA02F25D77A}"/>
              </a:ext>
            </a:extLst>
          </p:cNvPr>
          <p:cNvSpPr/>
          <p:nvPr/>
        </p:nvSpPr>
        <p:spPr>
          <a:xfrm>
            <a:off x="4005890" y="3537901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Question-Based Analysis</a:t>
            </a:r>
            <a:endParaRPr lang="en-US" sz="1550" dirty="0">
              <a:solidFill>
                <a:srgbClr val="383838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CC9F43-33BB-1AD3-21AC-195549913C56}"/>
              </a:ext>
            </a:extLst>
          </p:cNvPr>
          <p:cNvSpPr/>
          <p:nvPr/>
        </p:nvSpPr>
        <p:spPr>
          <a:xfrm>
            <a:off x="4005890" y="3897210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13 questions using filtering, grouping, counts and sorting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E41DFB8-CFEA-54B7-6934-7E4A6A9814BB}"/>
              </a:ext>
            </a:extLst>
          </p:cNvPr>
          <p:cNvSpPr/>
          <p:nvPr/>
        </p:nvSpPr>
        <p:spPr>
          <a:xfrm>
            <a:off x="3608447" y="4288691"/>
            <a:ext cx="281954" cy="2841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F55A13E-9C3D-B6C2-3134-9A3C8661A14C}"/>
              </a:ext>
            </a:extLst>
          </p:cNvPr>
          <p:cNvSpPr/>
          <p:nvPr/>
        </p:nvSpPr>
        <p:spPr>
          <a:xfrm>
            <a:off x="3650695" y="4306406"/>
            <a:ext cx="197375" cy="2486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EF43BC9-49CE-498C-0D48-8C8F8B4B206A}"/>
              </a:ext>
            </a:extLst>
          </p:cNvPr>
          <p:cNvSpPr/>
          <p:nvPr/>
        </p:nvSpPr>
        <p:spPr>
          <a:xfrm>
            <a:off x="4005890" y="4332095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IN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Further Analytics &amp; Insights</a:t>
            </a:r>
            <a:endParaRPr lang="en-US" sz="1550" dirty="0">
              <a:solidFill>
                <a:srgbClr val="383838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5C9037B-A1BF-9CE9-EE06-80CFA8AA67C2}"/>
              </a:ext>
            </a:extLst>
          </p:cNvPr>
          <p:cNvSpPr/>
          <p:nvPr/>
        </p:nvSpPr>
        <p:spPr>
          <a:xfrm>
            <a:off x="4005890" y="4655741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distributions, age, income and illness bands and correlations; </a:t>
            </a:r>
          </a:p>
          <a:p>
            <a:r>
              <a:rPr lang="en-IN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derive evidence-based findings</a:t>
            </a:r>
            <a:endParaRPr lang="en-US" sz="12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4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37F41045-4889-2A1C-D5C3-C9A9F6A10F91}"/>
              </a:ext>
            </a:extLst>
          </p:cNvPr>
          <p:cNvSpPr/>
          <p:nvPr/>
        </p:nvSpPr>
        <p:spPr>
          <a:xfrm>
            <a:off x="276465" y="2800220"/>
            <a:ext cx="2992555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Administrators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0748CC-F5B7-6EBC-BD7A-772C8BC56CDC}"/>
              </a:ext>
            </a:extLst>
          </p:cNvPr>
          <p:cNvSpPr/>
          <p:nvPr/>
        </p:nvSpPr>
        <p:spPr>
          <a:xfrm>
            <a:off x="276465" y="3163331"/>
            <a:ext cx="2992555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understand how often patients visit and which patient groups visit more, before discussing planning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D906A58-5303-728B-1AF5-144545A9AE1C}"/>
              </a:ext>
            </a:extLst>
          </p:cNvPr>
          <p:cNvSpPr/>
          <p:nvPr/>
        </p:nvSpPr>
        <p:spPr>
          <a:xfrm>
            <a:off x="3446481" y="2800220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 Insurance Analysts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0BC7306-7DBC-A28F-C0CC-E6FFA026BCA8}"/>
              </a:ext>
            </a:extLst>
          </p:cNvPr>
          <p:cNvSpPr/>
          <p:nvPr/>
        </p:nvSpPr>
        <p:spPr>
          <a:xfrm>
            <a:off x="3446481" y="3163331"/>
            <a:ext cx="2992640" cy="1037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compare average visits across private, </a:t>
            </a:r>
            <a:r>
              <a:rPr lang="en-US" sz="13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freepoor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3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freerepat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groups to see how insurance type relates to visits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86C5B3E-5AD3-FBC6-E22F-D494B3E83607}"/>
              </a:ext>
            </a:extLst>
          </p:cNvPr>
          <p:cNvSpPr/>
          <p:nvPr/>
        </p:nvSpPr>
        <p:spPr>
          <a:xfrm>
            <a:off x="6616582" y="2800220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Public Health Researchers / Policy Makers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2AA9640-34E8-CE97-837D-733A964AB7AA}"/>
              </a:ext>
            </a:extLst>
          </p:cNvPr>
          <p:cNvSpPr/>
          <p:nvPr/>
        </p:nvSpPr>
        <p:spPr>
          <a:xfrm>
            <a:off x="6616582" y="3163331"/>
            <a:ext cx="2992640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study how age, income and illness relate to doctor visits across 5,190 patient records.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D16C0D3-49B4-D0DB-D327-78F022ABF593}"/>
              </a:ext>
            </a:extLst>
          </p:cNvPr>
          <p:cNvSpPr/>
          <p:nvPr/>
        </p:nvSpPr>
        <p:spPr>
          <a:xfrm>
            <a:off x="1896712" y="5164185"/>
            <a:ext cx="2992555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Data Analysts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16D9D48-29DA-FD6C-BCB1-3FC7E9346E2F}"/>
              </a:ext>
            </a:extLst>
          </p:cNvPr>
          <p:cNvSpPr/>
          <p:nvPr/>
        </p:nvSpPr>
        <p:spPr>
          <a:xfrm>
            <a:off x="1896712" y="5527296"/>
            <a:ext cx="2992555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use the analyzed data to understand trends and relationships in doctor visits.</a:t>
            </a: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182C751-DE99-0706-3044-8797608BBE10}"/>
              </a:ext>
            </a:extLst>
          </p:cNvPr>
          <p:cNvSpPr/>
          <p:nvPr/>
        </p:nvSpPr>
        <p:spPr>
          <a:xfrm>
            <a:off x="5066728" y="5164185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Analysts / Students</a:t>
            </a: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590ACFF-0025-EC10-5F3C-5F800D103E89}"/>
              </a:ext>
            </a:extLst>
          </p:cNvPr>
          <p:cNvSpPr/>
          <p:nvPr/>
        </p:nvSpPr>
        <p:spPr>
          <a:xfrm>
            <a:off x="5066728" y="5527296"/>
            <a:ext cx="2992640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use the project as an example of data cleaning, exploratory data analysis and visualization.</a:t>
            </a:r>
          </a:p>
        </p:txBody>
      </p:sp>
      <p:pic>
        <p:nvPicPr>
          <p:cNvPr id="21" name="Image 0" descr="Healthcare Administrators icon">
            <a:extLst>
              <a:ext uri="{FF2B5EF4-FFF2-40B4-BE49-F238E27FC236}">
                <a16:creationId xmlns:a16="http://schemas.microsoft.com/office/drawing/2014/main" id="{5A5B64EB-B936-6AAF-FA38-2A10B20F1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77" y="2231955"/>
            <a:ext cx="365760" cy="365760"/>
          </a:xfrm>
          <a:prstGeom prst="rect">
            <a:avLst/>
          </a:prstGeom>
        </p:spPr>
      </p:pic>
      <p:pic>
        <p:nvPicPr>
          <p:cNvPr id="23" name="Image 1" descr="Health Insurance Analysts icon">
            <a:extLst>
              <a:ext uri="{FF2B5EF4-FFF2-40B4-BE49-F238E27FC236}">
                <a16:creationId xmlns:a16="http://schemas.microsoft.com/office/drawing/2014/main" id="{32AF6096-3E69-85E5-5AD5-BC534F980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924" y="2231955"/>
            <a:ext cx="365760" cy="365760"/>
          </a:xfrm>
          <a:prstGeom prst="rect">
            <a:avLst/>
          </a:prstGeom>
        </p:spPr>
      </p:pic>
      <p:pic>
        <p:nvPicPr>
          <p:cNvPr id="25" name="Image 2" descr="Public Health Researchers / Policy Makers icon">
            <a:extLst>
              <a:ext uri="{FF2B5EF4-FFF2-40B4-BE49-F238E27FC236}">
                <a16:creationId xmlns:a16="http://schemas.microsoft.com/office/drawing/2014/main" id="{ABAECFAC-EF66-F20F-4365-EDF18BAB4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119" y="2212280"/>
            <a:ext cx="365760" cy="365760"/>
          </a:xfrm>
          <a:prstGeom prst="rect">
            <a:avLst/>
          </a:prstGeom>
        </p:spPr>
      </p:pic>
      <p:pic>
        <p:nvPicPr>
          <p:cNvPr id="27" name="Image 3" descr="Healthcare Data Analysts icon">
            <a:extLst>
              <a:ext uri="{FF2B5EF4-FFF2-40B4-BE49-F238E27FC236}">
                <a16:creationId xmlns:a16="http://schemas.microsoft.com/office/drawing/2014/main" id="{78B53DFC-AEE2-4528-0850-CE841ABCD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326" y="4642820"/>
            <a:ext cx="365760" cy="365760"/>
          </a:xfrm>
          <a:prstGeom prst="rect">
            <a:avLst/>
          </a:prstGeom>
        </p:spPr>
      </p:pic>
      <p:pic>
        <p:nvPicPr>
          <p:cNvPr id="29" name="Image 4" descr="Data Analysts / Students icon">
            <a:extLst>
              <a:ext uri="{FF2B5EF4-FFF2-40B4-BE49-F238E27FC236}">
                <a16:creationId xmlns:a16="http://schemas.microsoft.com/office/drawing/2014/main" id="{FE9FA5B4-F582-CBC5-D9A3-0D91D997A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458" y="464282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FD71C45-593D-8AA4-DA93-ACDFEF5B13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486" y="1910586"/>
            <a:ext cx="372498" cy="390411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5826726B-A5BB-D4E0-91FE-95CA718FE63D}"/>
              </a:ext>
            </a:extLst>
          </p:cNvPr>
          <p:cNvSpPr/>
          <p:nvPr/>
        </p:nvSpPr>
        <p:spPr>
          <a:xfrm>
            <a:off x="284486" y="2496156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</a:t>
            </a:r>
            <a:endParaRPr lang="en-US" sz="17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C50EF40-6EEA-D15C-AD82-0122171AF686}"/>
              </a:ext>
            </a:extLst>
          </p:cNvPr>
          <p:cNvSpPr/>
          <p:nvPr/>
        </p:nvSpPr>
        <p:spPr>
          <a:xfrm>
            <a:off x="284486" y="2846092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programming language for all data loading, manipulation, analysis, and scripting tasks throughout the project.</a:t>
            </a:r>
            <a:endParaRPr lang="en-US" sz="13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198C514-F11C-668E-5C4E-6EAC8CD49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3837" y="1910586"/>
            <a:ext cx="372498" cy="39041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DFAEA8C-4411-C97C-471B-D0B937EA292D}"/>
              </a:ext>
            </a:extLst>
          </p:cNvPr>
          <p:cNvSpPr/>
          <p:nvPr/>
        </p:nvSpPr>
        <p:spPr>
          <a:xfrm>
            <a:off x="5273837" y="2496156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Pandas &amp; NumPy</a:t>
            </a:r>
            <a:endParaRPr lang="en-US" sz="17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549A9B9-7BFA-07C3-597D-8BA3ED06E9BA}"/>
              </a:ext>
            </a:extLst>
          </p:cNvPr>
          <p:cNvSpPr/>
          <p:nvPr/>
        </p:nvSpPr>
        <p:spPr>
          <a:xfrm>
            <a:off x="5273837" y="2846092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for dataset loading, cleaning, grouping, and aggregation. NumPy for efficient numerical operations and array computations.</a:t>
            </a:r>
            <a:endParaRPr lang="en-US" sz="13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87DA6A16-B6DB-DDBD-FA7E-F11C854A9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486" y="3722281"/>
            <a:ext cx="372498" cy="3904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9466E78-4CD7-B8EE-2CAB-38431D3E5982}"/>
              </a:ext>
            </a:extLst>
          </p:cNvPr>
          <p:cNvSpPr/>
          <p:nvPr/>
        </p:nvSpPr>
        <p:spPr>
          <a:xfrm>
            <a:off x="284486" y="4307851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Matplotlib &amp; Seaborn</a:t>
            </a:r>
            <a:endParaRPr lang="en-US" sz="17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9CF7C29-A8A7-E117-CAAA-90470CA9731B}"/>
              </a:ext>
            </a:extLst>
          </p:cNvPr>
          <p:cNvSpPr/>
          <p:nvPr/>
        </p:nvSpPr>
        <p:spPr>
          <a:xfrm>
            <a:off x="284486" y="4657787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Matplotlib for scatter plots and boxplots; Seaborn for higher-level EDA visualizations and exploratory statistical graphics.</a:t>
            </a:r>
            <a:endParaRPr lang="en-US" sz="13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987E61B9-1474-D60C-B783-03D2E3661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3837" y="3722281"/>
            <a:ext cx="372498" cy="390411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F822E476-D468-0B91-FD21-B5FC479636C9}"/>
              </a:ext>
            </a:extLst>
          </p:cNvPr>
          <p:cNvSpPr/>
          <p:nvPr/>
        </p:nvSpPr>
        <p:spPr>
          <a:xfrm>
            <a:off x="5273837" y="4307851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Jupyter / Google Colab</a:t>
            </a:r>
            <a:endParaRPr lang="en-US" sz="17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4C39BEA-AD9D-764E-8AD7-8440E4E3EA26}"/>
              </a:ext>
            </a:extLst>
          </p:cNvPr>
          <p:cNvSpPr/>
          <p:nvPr/>
        </p:nvSpPr>
        <p:spPr>
          <a:xfrm>
            <a:off x="5273837" y="4657787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notebook environment for writing, executing, and documenting the analysis in a reproducible, step-by-step format.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4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7C1F2E3-E1B9-CC19-B917-0E70E7F12A44}"/>
              </a:ext>
            </a:extLst>
          </p:cNvPr>
          <p:cNvSpPr/>
          <p:nvPr/>
        </p:nvSpPr>
        <p:spPr>
          <a:xfrm>
            <a:off x="320981" y="1175167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90000"/>
              </a:lnSpc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 in 10 patients made no doctor visit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8810C03D-60AC-4FFC-AFD9-67930198C508}"/>
              </a:ext>
            </a:extLst>
          </p:cNvPr>
          <p:cNvSpPr/>
          <p:nvPr/>
        </p:nvSpPr>
        <p:spPr>
          <a:xfrm>
            <a:off x="320982" y="1979316"/>
            <a:ext cx="42060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DISTRIBUTION FINDINGS</a:t>
            </a:r>
            <a:endParaRPr lang="en-US" sz="14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2B4B24B-D669-3CE3-DB75-258B0A8CCE8A}"/>
              </a:ext>
            </a:extLst>
          </p:cNvPr>
          <p:cNvSpPr/>
          <p:nvPr/>
        </p:nvSpPr>
        <p:spPr>
          <a:xfrm>
            <a:off x="320982" y="2445384"/>
            <a:ext cx="4206075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406400" indent="-406400" defTabSz="914400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4,141 patients (79.8%) had 0 visits; 1,049 (20.2%) had at least one.</a:t>
            </a:r>
          </a:p>
          <a:p>
            <a:pPr marL="406400" indent="-406400" defTabSz="914400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maximum is 9 visits, in just one record: a male patient with illness 5, reduced 14, health 10, freerepat yes and lchronic yes.</a:t>
            </a:r>
          </a:p>
          <a:p>
            <a:pPr marL="406400" indent="-406400" defTabSz="914400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Five records have 8 visits. Sorting by visits puts the 9-visit record first, and three of the top five records have reduced = 14.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6B62F03-CC1E-CBFB-CEBE-A93F2D23E005}"/>
              </a:ext>
            </a:extLst>
          </p:cNvPr>
          <p:cNvSpPr/>
          <p:nvPr/>
        </p:nvSpPr>
        <p:spPr>
          <a:xfrm>
            <a:off x="4984146" y="5318401"/>
            <a:ext cx="6309361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Number of patients by number of visits · Most patients made zero visits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5572B6-0BEB-AFAB-AF85-78367C8E8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7" t="1052" r="990" b="1287"/>
          <a:stretch>
            <a:fillRect/>
          </a:stretch>
        </p:blipFill>
        <p:spPr>
          <a:xfrm>
            <a:off x="5122004" y="1748774"/>
            <a:ext cx="6035280" cy="357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3922-33F0-B894-65BE-A6C96B2C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A874CB-A3D1-1F69-0369-302DF726E9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08A679-B164-2CA5-8B72-454F8B28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4B2222-A838-B371-CDEE-6E1469C38FCB}"/>
              </a:ext>
            </a:extLst>
          </p:cNvPr>
          <p:cNvSpPr/>
          <p:nvPr/>
        </p:nvSpPr>
        <p:spPr>
          <a:xfrm>
            <a:off x="609585" y="1331544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Female patients visit more often than male patients</a:t>
            </a:r>
            <a:endParaRPr lang="en-US" sz="29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11DDD07-E0DB-A785-A223-9D73A8983359}"/>
              </a:ext>
            </a:extLst>
          </p:cNvPr>
          <p:cNvSpPr/>
          <p:nvPr/>
        </p:nvSpPr>
        <p:spPr>
          <a:xfrm>
            <a:off x="609584" y="2175689"/>
            <a:ext cx="490713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SEX COMPARISON</a:t>
            </a:r>
            <a:endParaRPr lang="en-US" sz="145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CFC931D3-E4CF-8671-79C7-6E9057452C02}"/>
              </a:ext>
            </a:extLst>
          </p:cNvPr>
          <p:cNvSpPr/>
          <p:nvPr/>
        </p:nvSpPr>
        <p:spPr>
          <a:xfrm>
            <a:off x="609585" y="2688054"/>
            <a:ext cx="4907137" cy="267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2,702 female records and 2,488 male records.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660 female patients (24.4% of female records) visited at least once, compared with 389 male patients (15.6% of male records).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292 female patients with private insurance visited at least once.</a:t>
            </a:r>
            <a:endParaRPr lang="en-US" sz="2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25B58FB9-0E46-8E2B-BBAA-5240D2E09F1E}"/>
              </a:ext>
            </a:extLst>
          </p:cNvPr>
          <p:cNvSpPr/>
          <p:nvPr/>
        </p:nvSpPr>
        <p:spPr>
          <a:xfrm>
            <a:off x="5973812" y="5128788"/>
            <a:ext cx="5608299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 by sex · Female records have the higher average visits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79307E-D4F1-0E98-AB54-AEEDF98C31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9"/>
          <a:stretch>
            <a:fillRect/>
          </a:stretch>
        </p:blipFill>
        <p:spPr>
          <a:xfrm>
            <a:off x="6096000" y="1729212"/>
            <a:ext cx="4492533" cy="3370193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D1696ED3-CDB3-D325-1DFB-882A5F4C930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62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0D0B1-068E-298F-F560-5877AB48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262CF9-EB82-B340-9D10-0DEB6CEE7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5AE058C-7E7B-B4DB-140D-6E8A19C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67F0A4E-E58B-C481-54EB-61963385D88C}"/>
              </a:ext>
            </a:extLst>
          </p:cNvPr>
          <p:cNvSpPr/>
          <p:nvPr/>
        </p:nvSpPr>
        <p:spPr>
          <a:xfrm>
            <a:off x="384997" y="1219250"/>
            <a:ext cx="10972526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Free-insurance groups differ sharply; private insurance makes almost no difference</a:t>
            </a:r>
            <a:endParaRPr lang="en-US" sz="29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D00844B-7795-52C9-5EE1-4FC39F481756}"/>
              </a:ext>
            </a:extLst>
          </p:cNvPr>
          <p:cNvSpPr/>
          <p:nvPr/>
        </p:nvSpPr>
        <p:spPr>
          <a:xfrm>
            <a:off x="384997" y="2170163"/>
            <a:ext cx="385564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INSURANCE &amp; CHRONIC COHORTS</a:t>
            </a:r>
            <a:endParaRPr lang="en-US" sz="14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2649657-FE38-B374-F476-B465A7312194}"/>
              </a:ext>
            </a:extLst>
          </p:cNvPr>
          <p:cNvSpPr/>
          <p:nvPr/>
        </p:nvSpPr>
        <p:spPr>
          <a:xfrm>
            <a:off x="384997" y="2479527"/>
            <a:ext cx="3855643" cy="166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231 patients have private insurance and lchronic = yes.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1,251 records are male with private insurance, or have freepoor = yes.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1A183DF-BDEB-9BE6-A78D-40E09AA9AA20}"/>
              </a:ext>
            </a:extLst>
          </p:cNvPr>
          <p:cNvSpPr/>
          <p:nvPr/>
        </p:nvSpPr>
        <p:spPr>
          <a:xfrm>
            <a:off x="4697729" y="5495181"/>
            <a:ext cx="6659793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 for yes vs no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D61EFF-D8C7-74A7-3407-E64CBF468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090" y="1733313"/>
            <a:ext cx="6063309" cy="3621708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945CB9F3-AC89-C78E-B953-610373C16678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40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25FE-95D7-13BD-DB70-E52C9AF6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8F9DE6-BA63-EF03-721A-9DBCC3007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8D1F05-E57E-E0F3-BFDF-21939B2D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22BF50-ECF8-A07B-3571-5DD890246D04}"/>
              </a:ext>
            </a:extLst>
          </p:cNvPr>
          <p:cNvSpPr/>
          <p:nvPr/>
        </p:nvSpPr>
        <p:spPr>
          <a:xfrm>
            <a:off x="376976" y="1262532"/>
            <a:ext cx="10972526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two chronic flags never overlap, and lchronic carries the highest visit rate</a:t>
            </a:r>
            <a:endParaRPr lang="en-US" sz="29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5977146-7C72-94CE-317F-6A800DF8272F}"/>
              </a:ext>
            </a:extLst>
          </p:cNvPr>
          <p:cNvSpPr/>
          <p:nvPr/>
        </p:nvSpPr>
        <p:spPr>
          <a:xfrm>
            <a:off x="376976" y="2517195"/>
            <a:ext cx="455670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CHRONIC CONDITION COHORTS</a:t>
            </a:r>
            <a:endParaRPr lang="en-US" sz="14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4E43A3E-2170-8F10-63FD-E21905C27037}"/>
              </a:ext>
            </a:extLst>
          </p:cNvPr>
          <p:cNvSpPr/>
          <p:nvPr/>
        </p:nvSpPr>
        <p:spPr>
          <a:xfrm>
            <a:off x="376976" y="2993078"/>
            <a:ext cx="4556706" cy="2026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record has both flags set to yes.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340 female patients have lchronic = yes and 807 male patients have nchronic = yes, together 1,147 records.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visits: lchronic = yes 0.603 vs 0.262 for the rest.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AD56B7C-68E1-43F1-21EE-F1E67541A379}"/>
              </a:ext>
            </a:extLst>
          </p:cNvPr>
          <p:cNvSpPr/>
          <p:nvPr/>
        </p:nvSpPr>
        <p:spPr>
          <a:xfrm>
            <a:off x="5390769" y="5019522"/>
            <a:ext cx="5958731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nchronic by lchronic contingency table · Zero overlap observed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923182-A0D8-DCD0-4604-6F6EB9D9F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824" y="1838478"/>
            <a:ext cx="3520620" cy="2918408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DCC4FC3B-875F-9B10-CD5F-051397E8CB1A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4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958C-DB53-95CE-AC4D-0672D6D8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27855-9F3D-E444-4EC0-5636BC1D6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FD18E22-D859-1826-C656-5F718FDDC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36E5DC-9D30-43AA-DB25-7C279E9464A4}"/>
              </a:ext>
            </a:extLst>
          </p:cNvPr>
          <p:cNvSpPr/>
          <p:nvPr/>
        </p:nvSpPr>
        <p:spPr>
          <a:xfrm>
            <a:off x="344284" y="1004987"/>
            <a:ext cx="10972526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b="1" kern="100" spc="-22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Visits rise with age values and fall with income values</a:t>
            </a:r>
            <a:endParaRPr lang="en-US" sz="27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0321ACF-0D12-DF73-F725-ADB569AFF71F}"/>
              </a:ext>
            </a:extLst>
          </p:cNvPr>
          <p:cNvSpPr/>
          <p:nvPr/>
        </p:nvSpPr>
        <p:spPr>
          <a:xfrm>
            <a:off x="609585" y="4269184"/>
            <a:ext cx="11582110" cy="235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5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 by age and income bands</a:t>
            </a:r>
            <a:endParaRPr lang="en-US" sz="15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6074C8A-7D01-D0D4-28CF-D21B47072333}"/>
              </a:ext>
            </a:extLst>
          </p:cNvPr>
          <p:cNvSpPr/>
          <p:nvPr/>
        </p:nvSpPr>
        <p:spPr>
          <a:xfrm>
            <a:off x="609585" y="4623514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7B5A60-3896-8F0B-A806-47121CF34478}"/>
              </a:ext>
            </a:extLst>
          </p:cNvPr>
          <p:cNvSpPr/>
          <p:nvPr/>
        </p:nvSpPr>
        <p:spPr>
          <a:xfrm>
            <a:off x="422959" y="4716959"/>
            <a:ext cx="10972526" cy="1834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75920" indent="-375920" algn="l">
              <a:lnSpc>
                <a:spcPct val="103000"/>
              </a:lnSpc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Age bands (units of age are not given in the data): Band 1 (0.25 or less) 0.206 with 1,965 patients; Band 2 (0.26 to 0.45) 0.259 with 1,096; Band 3 (0.46 to 0.65) 0.365 with 992; Band 4 (above 0.65) 0.454 with 1,137.</a:t>
            </a:r>
            <a:endParaRPr lang="en-US" sz="1600" dirty="0"/>
          </a:p>
          <a:p>
            <a:pPr marL="375920" indent="-375920" algn="l">
              <a:lnSpc>
                <a:spcPct val="103000"/>
              </a:lnSpc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Income bands (units of income are not given in the data): Band 1 (0.25 or less) 0.398 with 1,638 patients; Band 2 (0.26 to 0.55) 0.305 with 1,329; Band 3 (0.56 to 0.90) 0.230 with 1,485; Band 4 (above 0.90) 0.225 with 738.</a:t>
            </a:r>
            <a:endParaRPr lang="en-US" sz="1600" dirty="0"/>
          </a:p>
          <a:p>
            <a:pPr marL="375920" indent="-375920" algn="l">
              <a:lnSpc>
                <a:spcPct val="103000"/>
              </a:lnSpc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Most common income values (patients): 0.25 = 1,195; 0.90 = 589; 0.55 = 467; 0.35 = 462; 0.65 = 455; 0.75 = 441; 0.45 = 400; 1.10 = 361; 0.15 = 249; 1.50 = 215.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4F3B34-6BAB-29C2-FE0D-844D6AF8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36"/>
          <a:stretch>
            <a:fillRect/>
          </a:stretch>
        </p:blipFill>
        <p:spPr>
          <a:xfrm>
            <a:off x="422959" y="1380670"/>
            <a:ext cx="4132404" cy="28267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A89F52-205F-E791-6159-8A828AE36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60" y="1444201"/>
            <a:ext cx="4904171" cy="3017974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6B684CF5-DCFD-5342-5F55-8696A1525B67}"/>
              </a:ext>
            </a:extLst>
          </p:cNvPr>
          <p:cNvSpPr txBox="1">
            <a:spLocks/>
          </p:cNvSpPr>
          <p:nvPr/>
        </p:nvSpPr>
        <p:spPr>
          <a:xfrm>
            <a:off x="422959" y="6056421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6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4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50BE-39D6-0F29-B75E-82ACF2E4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90DD3E-DB3D-1BFF-CD6A-72C21E4286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368AE75-E1EF-6D1D-ADA9-0552596A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9ED782-374E-FE34-8DB1-3584D2E2CE61}"/>
              </a:ext>
            </a:extLst>
          </p:cNvPr>
          <p:cNvSpPr/>
          <p:nvPr/>
        </p:nvSpPr>
        <p:spPr>
          <a:xfrm>
            <a:off x="417081" y="1042788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More illnesses, more visits</a:t>
            </a:r>
            <a:endParaRPr lang="en-US" sz="29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68A286-679B-27A5-A164-99F398AD7AC0}"/>
              </a:ext>
            </a:extLst>
          </p:cNvPr>
          <p:cNvSpPr/>
          <p:nvPr/>
        </p:nvSpPr>
        <p:spPr>
          <a:xfrm>
            <a:off x="417081" y="1938337"/>
            <a:ext cx="42060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ILLNESS PROGRESSION</a:t>
            </a:r>
            <a:endParaRPr lang="en-US" sz="14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412647E-F7B9-B6C9-02D4-AADC14E7D021}"/>
              </a:ext>
            </a:extLst>
          </p:cNvPr>
          <p:cNvSpPr/>
          <p:nvPr/>
        </p:nvSpPr>
        <p:spPr>
          <a:xfrm>
            <a:off x="417081" y="2247701"/>
            <a:ext cx="4206075" cy="2026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illness has 6 distinct values, from 0 to 5.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 increase at every step of illness, from 0.08 to 0.81.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92 patients with lchronic = yes have a health value above 5.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681A3D0-F4BB-EBDE-EF18-ADEB1A58245A}"/>
              </a:ext>
            </a:extLst>
          </p:cNvPr>
          <p:cNvSpPr/>
          <p:nvPr/>
        </p:nvSpPr>
        <p:spPr>
          <a:xfrm>
            <a:off x="5080245" y="5399186"/>
            <a:ext cx="6309361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Average visits by illness value · Average visits increase at every step of illness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ECC687-8E92-A345-E4F1-3C7FC1173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121" y="1586006"/>
            <a:ext cx="4946983" cy="3685988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1F8D75C0-859B-905F-6E3C-69C2107944B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83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F3E3-A443-553D-40C8-A82B8F59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6AA941-B10D-7BE4-8C4B-01D027A4A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173B81-8F09-8534-5FF8-41FB29CCF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DD77F51-BF9F-98AC-D0FD-CA80F326B358}"/>
              </a:ext>
            </a:extLst>
          </p:cNvPr>
          <p:cNvSpPr/>
          <p:nvPr/>
        </p:nvSpPr>
        <p:spPr>
          <a:xfrm>
            <a:off x="425102" y="113904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Most count columns are heavily concentrated at zero</a:t>
            </a:r>
            <a:endParaRPr lang="en-US" sz="2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EA188AC-2591-E4B4-BDC3-46035B052595}"/>
              </a:ext>
            </a:extLst>
          </p:cNvPr>
          <p:cNvSpPr/>
          <p:nvPr/>
        </p:nvSpPr>
        <p:spPr>
          <a:xfrm>
            <a:off x="425102" y="5558243"/>
            <a:ext cx="711182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Count-column distribution</a:t>
            </a:r>
            <a:endParaRPr lang="en-US" sz="16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6D6F4FC-09FC-57D4-C680-A23487B63B75}"/>
              </a:ext>
            </a:extLst>
          </p:cNvPr>
          <p:cNvSpPr/>
          <p:nvPr/>
        </p:nvSpPr>
        <p:spPr>
          <a:xfrm>
            <a:off x="7841716" y="1692284"/>
            <a:ext cx="3555911" cy="300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Records at 0: visits 4,141; reduced 4,454; health 3,026.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reduced has a second spike at its maximum of 14 (188 records).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37.9% of records sit at the two lowest age values (0.19 and 0.22), and 822 at the highest (0.72).</a:t>
            </a:r>
            <a:endParaRPr 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B15A5A-702C-9359-8FE5-AFDAFDD7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01" y="1651712"/>
            <a:ext cx="6547336" cy="3842298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B5EAB079-3FF4-9BB5-3AC8-7F5A1E628EFF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15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F8D6-3E6D-F435-80EF-FDFD0F74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CA234-791C-FA92-D4DA-B55818025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44BA0A8-52D5-BBD9-A4E0-0FA69263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03F3FA0-DD41-6AFC-1B88-50AA1BBFB717}"/>
              </a:ext>
            </a:extLst>
          </p:cNvPr>
          <p:cNvSpPr/>
          <p:nvPr/>
        </p:nvSpPr>
        <p:spPr>
          <a:xfrm>
            <a:off x="433123" y="114706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Reduced is the strongest link with visits</a:t>
            </a:r>
            <a:endParaRPr lang="en-US" sz="29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1AE1F09-D43A-811E-DE5F-C52110FCED58}"/>
              </a:ext>
            </a:extLst>
          </p:cNvPr>
          <p:cNvSpPr/>
          <p:nvPr/>
        </p:nvSpPr>
        <p:spPr>
          <a:xfrm>
            <a:off x="433123" y="2042610"/>
            <a:ext cx="42060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CORRELATION ANALYSIS</a:t>
            </a:r>
            <a:endParaRPr lang="en-US" sz="14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A2ACBB2-F049-E62A-D1D9-54A9351D774B}"/>
              </a:ext>
            </a:extLst>
          </p:cNvPr>
          <p:cNvSpPr/>
          <p:nvPr/>
        </p:nvSpPr>
        <p:spPr>
          <a:xfrm>
            <a:off x="433123" y="2451850"/>
            <a:ext cx="4206075" cy="166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Other notable pairs: illness and health 0.36; reduced and health 0.28; age and income -0.27.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single column explains visits on its own.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7B01DD8-FDE6-1E7F-31AC-B1F77E53114F}"/>
              </a:ext>
            </a:extLst>
          </p:cNvPr>
          <p:cNvSpPr/>
          <p:nvPr/>
        </p:nvSpPr>
        <p:spPr>
          <a:xfrm>
            <a:off x="5176497" y="5511005"/>
            <a:ext cx="6309361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Correlation with visits · reduced has the strongest positive correlation with visits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2A6C57-9FE4-5154-1965-08E1BB5E5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097" y="1696568"/>
            <a:ext cx="4953197" cy="363427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9FEB7B8B-ABC7-F127-8F49-8ECDA32A4931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5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52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5" name="Picture 4" descr="Thank you text blue background Images - Free Download on Magnific (formerly  Freepik)">
            <a:extLst>
              <a:ext uri="{FF2B5EF4-FFF2-40B4-BE49-F238E27FC236}">
                <a16:creationId xmlns:a16="http://schemas.microsoft.com/office/drawing/2014/main" id="{7FD735CC-866F-462F-B813-26F57687CB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4" t="10512" r="10848" b="9014"/>
          <a:stretch>
            <a:fillRect/>
          </a:stretch>
        </p:blipFill>
        <p:spPr>
          <a:xfrm>
            <a:off x="2390278" y="681789"/>
            <a:ext cx="5479195" cy="55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723</TotalTime>
  <Words>1217</Words>
  <Application>Microsoft Office PowerPoint</Application>
  <PresentationFormat>Widescreen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Calibri</vt:lpstr>
      <vt:lpstr>DM Sans</vt:lpstr>
      <vt:lpstr>DM Sans Bold</vt:lpstr>
      <vt:lpstr>JetBrains Mono Medium</vt:lpstr>
      <vt:lpstr>PT Serif</vt:lpstr>
      <vt:lpstr>Tinos</vt:lpstr>
      <vt:lpstr>Tinos Bold</vt:lpstr>
      <vt:lpstr>Trebuchet MS</vt:lpstr>
      <vt:lpstr>Wingdings</vt:lpstr>
      <vt:lpstr>Wingdings 3</vt:lpstr>
      <vt:lpstr>Facet</vt:lpstr>
      <vt:lpstr>Healthcare Analytics for Doctor Visits_TIRTC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Atharva Deshpande</cp:lastModifiedBy>
  <cp:revision>78</cp:revision>
  <dcterms:created xsi:type="dcterms:W3CDTF">2021-07-11T13:13:15Z</dcterms:created>
  <dcterms:modified xsi:type="dcterms:W3CDTF">2026-10-05T13:40:59Z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